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477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BDAA6B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A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76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 · NORTH SOUTH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78040" y="987552"/>
            <a:ext cx="3154680" cy="3154680"/>
          </a:xfrm>
          <a:prstGeom prst="ellipse">
            <a:avLst/>
          </a:prstGeom>
          <a:solidFill>
            <a:srgbClr val="102A3B"/>
          </a:solidFill>
          <a:ln w="20320">
            <a:solidFill>
              <a:srgbClr val="67D8C2">
                <a:alpha val="7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99248" y="1508760"/>
            <a:ext cx="2103120" cy="2103120"/>
          </a:xfrm>
          <a:prstGeom prst="ellipse">
            <a:avLst/>
          </a:prstGeom>
          <a:solidFill>
            <a:srgbClr val="091018">
              <a:alpha val="94000"/>
            </a:srgbClr>
          </a:solidFill>
          <a:ln w="16510">
            <a:solidFill>
              <a:srgbClr val="D7B86A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157984"/>
            <a:ext cx="786384" cy="786384"/>
          </a:xfrm>
          <a:prstGeom prst="ellipse">
            <a:avLst/>
          </a:prstGeom>
          <a:solidFill>
            <a:srgbClr val="D7B86A"/>
          </a:solidFill>
          <a:ln w="10160">
            <a:solidFill>
              <a:srgbClr val="F2EAD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1143000"/>
            <a:ext cx="164592" cy="164592"/>
          </a:xfrm>
          <a:prstGeom prst="ellipse">
            <a:avLst/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D7B86A"/>
          </a:solidFill>
          <a:ln w="12700">
            <a:solidFill>
              <a:srgbClr val="D7B8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4069080"/>
            <a:ext cx="164592" cy="164592"/>
          </a:xfrm>
          <a:prstGeom prst="ellipse">
            <a:avLst/>
          </a:prstGeom>
          <a:solidFill>
            <a:srgbClr val="D97858"/>
          </a:solidFill>
          <a:ln w="12700">
            <a:solidFill>
              <a:srgbClr val="D97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4708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Adventure Quest: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94944" y="2670048"/>
            <a:ext cx="5303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Factor Graph-Driven Interactive Narrative RPG built as a static browser game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" y="3401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 every choice rewrites probability.”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4882896"/>
            <a:ext cx="2971800" cy="658368"/>
          </a:xfrm>
          <a:prstGeom prst="roundRect">
            <a:avLst>
              <a:gd name="adj" fmla="val 8333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50383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7D8C2"/>
                </a:solidFill>
              </a:rPr>
              <a:t>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88136" y="5010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type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88136" y="52029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RPG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4882896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50383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7D8C2"/>
                </a:solidFill>
              </a:rPr>
              <a:t>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01768" y="501091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algorithm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01768" y="5202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Sum-product style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58784" y="4882896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68512" y="50383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7D8C2"/>
                </a:solidFill>
              </a:rPr>
              <a:t>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88552" y="5010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loop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988552" y="5202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turns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88720" y="6053328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8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Ashmit </a:t>
            </a:r>
            <a:r>
              <a:rPr lang="en-US" sz="980" dirty="0" err="1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Ebne</a:t>
            </a:r>
            <a:r>
              <a:rPr lang="en-US" sz="98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Nur : 2031157642  ·  Samiul Alim : 1731883642   ·  Margia Hossain Mukti : 2011675042  ·  Nusrat Jahan : 2415267650 ·  Nazia Tasnim : 2212439042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/ 8</a:t>
            </a:r>
            <a:endParaRPr lang="en-US" sz="8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9B74CA-817D-126E-6AB9-71BE2EAFA42C}"/>
              </a:ext>
            </a:extLst>
          </p:cNvPr>
          <p:cNvSpPr txBox="1"/>
          <p:nvPr/>
        </p:nvSpPr>
        <p:spPr>
          <a:xfrm>
            <a:off x="617728" y="871897"/>
            <a:ext cx="2152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itchFamily="34" charset="0"/>
              </a:rPr>
              <a:t>Group -09</a:t>
            </a:r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/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INNOVATION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5544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Static Branches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450592"/>
            <a:ext cx="46634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game deploys a </a:t>
            </a:r>
            <a:r>
              <a:rPr lang="en-US" sz="14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Graph Decision Engine</a:t>
            </a:r>
            <a:r>
              <a:rPr lang="en-US" sz="145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Player choices update probabilistic beliefs across 7 variables, then drive the next scene, visible state, and final ending.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29400" y="1234440"/>
            <a:ext cx="4389120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93992" y="1399032"/>
            <a:ext cx="457200" cy="457200"/>
          </a:xfrm>
          <a:prstGeom prst="ellipse">
            <a:avLst/>
          </a:prstGeom>
          <a:solidFill>
            <a:srgbClr val="67D8C2"/>
          </a:solidFill>
          <a:ln w="7620">
            <a:solidFill>
              <a:srgbClr val="F2EAD5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151790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415784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cards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15784" y="16733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options per turn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78240" y="2075688"/>
            <a:ext cx="182880" cy="237744"/>
          </a:xfrm>
          <a:prstGeom prst="downArrow">
            <a:avLst/>
          </a:prstGeom>
          <a:solidFill>
            <a:srgbClr val="D7B86A">
              <a:alpha val="80000"/>
            </a:srgbClr>
          </a:solidFill>
          <a:ln w="12700">
            <a:solidFill>
              <a:srgbClr val="D7B86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2404872"/>
            <a:ext cx="4389120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2569464"/>
            <a:ext cx="457200" cy="457200"/>
          </a:xfrm>
          <a:prstGeom prst="ellipse">
            <a:avLst/>
          </a:prstGeom>
          <a:solidFill>
            <a:srgbClr val="D7B86A"/>
          </a:solidFill>
          <a:ln w="7620">
            <a:solidFill>
              <a:srgbClr val="F2EAD5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268833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15784" y="2569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messages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15784" y="28437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and factor updates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78240" y="3246120"/>
            <a:ext cx="182880" cy="237744"/>
          </a:xfrm>
          <a:prstGeom prst="downArrow">
            <a:avLst/>
          </a:prstGeom>
          <a:solidFill>
            <a:srgbClr val="D7B86A">
              <a:alpha val="80000"/>
            </a:srgbClr>
          </a:solidFill>
          <a:ln w="12700">
            <a:solidFill>
              <a:srgbClr val="D7B86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575304"/>
            <a:ext cx="4389120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3739896"/>
            <a:ext cx="457200" cy="457200"/>
          </a:xfrm>
          <a:prstGeom prst="ellipse">
            <a:avLst/>
          </a:prstGeom>
          <a:solidFill>
            <a:srgbClr val="67D8C2"/>
          </a:solidFill>
          <a:ln w="7620">
            <a:solidFill>
              <a:srgbClr val="F2EAD5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8587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415784" y="3739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scene generation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15784" y="40142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API dependency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4919472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13263A">
              <a:alpha val="96000"/>
            </a:srgbClr>
          </a:solidFill>
          <a:ln w="13970">
            <a:solidFill>
              <a:srgbClr val="67D8C2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51023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B86A"/>
                </a:solidFill>
              </a:rPr>
              <a:t>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78624" y="5084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single-page game: HTML5, CSS3, Vanilla JavaScript, Canvas, Web Audio API</a:t>
            </a:r>
            <a:endParaRPr lang="en-US" sz="9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D0067EB-C555-15B3-1B60-5AB4D5518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69" y="1273532"/>
            <a:ext cx="5630061" cy="38105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/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8778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7 ARCANE VARIABLES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40280" y="1207008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Reality Through Probability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514600" y="190195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beliefs appear both in the live canvas graph and the Arcane Measures sidebar, making probabilistic state changes visible to the player.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283464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008376"/>
            <a:ext cx="164592" cy="164592"/>
          </a:xfrm>
          <a:prstGeom prst="ellipse">
            <a:avLst/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298094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109728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35204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Willingness to face danger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30168" y="283464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3008376"/>
            <a:ext cx="164592" cy="164592"/>
          </a:xfrm>
          <a:prstGeom prst="ellipse">
            <a:avLst/>
          </a:prstGeom>
          <a:solidFill>
            <a:srgbClr val="D7B86A"/>
          </a:solidFill>
          <a:ln w="12700">
            <a:solidFill>
              <a:srgbClr val="D7B8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98094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670" dirty="0"/>
          </a:p>
        </p:txBody>
      </p:sp>
      <p:sp>
        <p:nvSpPr>
          <p:cNvPr id="19" name="Text 17"/>
          <p:cNvSpPr/>
          <p:nvPr/>
        </p:nvSpPr>
        <p:spPr>
          <a:xfrm>
            <a:off x="388620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13048" y="35204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Reputation among NPCs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419088" y="283464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3008376"/>
            <a:ext cx="164592" cy="164592"/>
          </a:xfrm>
          <a:prstGeom prst="ellipse">
            <a:avLst/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298094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667512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01968" y="35204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Moral alignment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208008" y="283464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72600" y="3008376"/>
            <a:ext cx="164592" cy="164592"/>
          </a:xfrm>
          <a:prstGeom prst="ellipse">
            <a:avLst/>
          </a:prstGeom>
          <a:solidFill>
            <a:srgbClr val="D7B86A"/>
          </a:solidFill>
          <a:ln w="12700">
            <a:solidFill>
              <a:srgbClr val="D7B8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91088" y="298094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V4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946404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Wisdom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90888" y="35204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and insight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258568" y="416052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4334256"/>
            <a:ext cx="164592" cy="164592"/>
          </a:xfrm>
          <a:prstGeom prst="ellipse">
            <a:avLst/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41648" y="430682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V5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251460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Chaos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441448" y="484632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instability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47488" y="416052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4334256"/>
            <a:ext cx="164592" cy="164592"/>
          </a:xfrm>
          <a:prstGeom prst="ellipse">
            <a:avLst/>
          </a:prstGeom>
          <a:solidFill>
            <a:srgbClr val="D7B86A"/>
          </a:solidFill>
          <a:ln w="12700">
            <a:solidFill>
              <a:srgbClr val="D7B8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430682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V6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30352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230368" y="484632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condition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7836408" y="4160520"/>
            <a:ext cx="2331720" cy="969264"/>
          </a:xfrm>
          <a:prstGeom prst="roundRect">
            <a:avLst>
              <a:gd name="adj" fmla="val 5660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4334256"/>
            <a:ext cx="164592" cy="164592"/>
          </a:xfrm>
          <a:prstGeom prst="ellipse">
            <a:avLst/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19488" y="430682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V7</a:t>
            </a: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809244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019288" y="484632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and supplies</a:t>
            </a:r>
            <a:endParaRPr lang="en-US" sz="78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/ 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49047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Belief Engine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359152"/>
            <a:ext cx="41605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bipartite network connects </a:t>
            </a:r>
            <a:r>
              <a:rPr lang="en-US" sz="13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Nodes</a:t>
            </a:r>
            <a:r>
              <a:rPr lang="en-US" sz="135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</a:t>
            </a:r>
            <a:r>
              <a:rPr lang="en-US" sz="13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Nodes</a:t>
            </a:r>
            <a:r>
              <a:rPr lang="en-US" sz="135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Choices alter priors and factor charge before normalized two-state messages recompute displayed beliefs.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0176" y="1865376"/>
            <a:ext cx="2331720" cy="109728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5016" y="3282696"/>
            <a:ext cx="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15016" y="4700016"/>
            <a:ext cx="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0176" y="3282696"/>
            <a:ext cx="2331720" cy="13716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4700016"/>
            <a:ext cx="233172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15016" y="1865376"/>
            <a:ext cx="0" cy="155448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15016" y="1865376"/>
            <a:ext cx="0" cy="2779776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0176" y="1865376"/>
            <a:ext cx="2331720" cy="2779776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5202936"/>
            <a:ext cx="13716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4700016"/>
            <a:ext cx="114300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0176" y="3282696"/>
            <a:ext cx="1143000" cy="68580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15016" y="4700016"/>
            <a:ext cx="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4736" y="5202936"/>
            <a:ext cx="128016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15016" y="3282696"/>
            <a:ext cx="0" cy="68580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15016" y="4700016"/>
            <a:ext cx="0" cy="0"/>
          </a:xfrm>
          <a:prstGeom prst="line">
            <a:avLst/>
          </a:prstGeom>
          <a:noFill/>
          <a:ln w="11430">
            <a:solidFill>
              <a:srgbClr val="67D8C2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164592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05856" y="175564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05856" y="192938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Courage</a:t>
            </a:r>
            <a:endParaRPr lang="en-US" sz="570" dirty="0"/>
          </a:p>
        </p:txBody>
      </p:sp>
      <p:sp>
        <p:nvSpPr>
          <p:cNvPr id="30" name="Shape 28"/>
          <p:cNvSpPr/>
          <p:nvPr/>
        </p:nvSpPr>
        <p:spPr>
          <a:xfrm>
            <a:off x="5669280" y="306324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31729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05856" y="334670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570" dirty="0"/>
          </a:p>
        </p:txBody>
      </p:sp>
      <p:sp>
        <p:nvSpPr>
          <p:cNvPr id="33" name="Shape 31"/>
          <p:cNvSpPr/>
          <p:nvPr/>
        </p:nvSpPr>
        <p:spPr>
          <a:xfrm>
            <a:off x="5669280" y="448056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45902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05856" y="476402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Karma</a:t>
            </a:r>
            <a:endParaRPr lang="en-US" sz="570" dirty="0"/>
          </a:p>
        </p:txBody>
      </p:sp>
      <p:sp>
        <p:nvSpPr>
          <p:cNvPr id="36" name="Shape 34"/>
          <p:cNvSpPr/>
          <p:nvPr/>
        </p:nvSpPr>
        <p:spPr>
          <a:xfrm>
            <a:off x="10104120" y="164592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0696" y="175564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140696" y="192938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Wisdom</a:t>
            </a:r>
            <a:endParaRPr lang="en-US" sz="570" dirty="0"/>
          </a:p>
        </p:txBody>
      </p:sp>
      <p:sp>
        <p:nvSpPr>
          <p:cNvPr id="39" name="Shape 37"/>
          <p:cNvSpPr/>
          <p:nvPr/>
        </p:nvSpPr>
        <p:spPr>
          <a:xfrm>
            <a:off x="10104120" y="306324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0696" y="31729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40696" y="334670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570" dirty="0"/>
          </a:p>
        </p:txBody>
      </p:sp>
      <p:sp>
        <p:nvSpPr>
          <p:cNvPr id="42" name="Shape 40"/>
          <p:cNvSpPr/>
          <p:nvPr/>
        </p:nvSpPr>
        <p:spPr>
          <a:xfrm>
            <a:off x="10104120" y="448056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40696" y="45902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140696" y="476402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Chaos</a:t>
            </a:r>
            <a:endParaRPr lang="en-US" sz="570" dirty="0"/>
          </a:p>
        </p:txBody>
      </p:sp>
      <p:sp>
        <p:nvSpPr>
          <p:cNvPr id="45" name="Shape 43"/>
          <p:cNvSpPr/>
          <p:nvPr/>
        </p:nvSpPr>
        <p:spPr>
          <a:xfrm>
            <a:off x="7863840" y="4983480"/>
            <a:ext cx="658368" cy="457200"/>
          </a:xfrm>
          <a:prstGeom prst="ellipse">
            <a:avLst/>
          </a:prstGeom>
          <a:solidFill>
            <a:srgbClr val="67D8C2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0416" y="509320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00416" y="5266944"/>
            <a:ext cx="585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Wealth</a:t>
            </a:r>
            <a:endParaRPr lang="en-US" sz="570" dirty="0"/>
          </a:p>
        </p:txBody>
      </p:sp>
      <p:sp>
        <p:nvSpPr>
          <p:cNvPr id="48" name="Shape 46"/>
          <p:cNvSpPr/>
          <p:nvPr/>
        </p:nvSpPr>
        <p:spPr>
          <a:xfrm>
            <a:off x="8001000" y="1755648"/>
            <a:ext cx="950976" cy="438912"/>
          </a:xfrm>
          <a:prstGeom prst="roundRect">
            <a:avLst/>
          </a:prstGeom>
          <a:solidFill>
            <a:srgbClr val="D7B86A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37576" y="186537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37576" y="2039112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Combat</a:t>
            </a:r>
            <a:endParaRPr lang="en-US" sz="570" dirty="0"/>
          </a:p>
        </p:txBody>
      </p:sp>
      <p:sp>
        <p:nvSpPr>
          <p:cNvPr id="51" name="Shape 49"/>
          <p:cNvSpPr/>
          <p:nvPr/>
        </p:nvSpPr>
        <p:spPr>
          <a:xfrm>
            <a:off x="8001000" y="3200400"/>
            <a:ext cx="950976" cy="438912"/>
          </a:xfrm>
          <a:prstGeom prst="roundRect">
            <a:avLst/>
          </a:prstGeom>
          <a:solidFill>
            <a:srgbClr val="D7B86A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37576" y="331012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37576" y="3483864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Dialogue</a:t>
            </a:r>
            <a:endParaRPr lang="en-US" sz="570" dirty="0"/>
          </a:p>
        </p:txBody>
      </p:sp>
      <p:sp>
        <p:nvSpPr>
          <p:cNvPr id="54" name="Shape 52"/>
          <p:cNvSpPr/>
          <p:nvPr/>
        </p:nvSpPr>
        <p:spPr>
          <a:xfrm>
            <a:off x="8001000" y="4425696"/>
            <a:ext cx="950976" cy="438912"/>
          </a:xfrm>
          <a:prstGeom prst="roundRect">
            <a:avLst/>
          </a:prstGeom>
          <a:solidFill>
            <a:srgbClr val="D7B86A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37576" y="453542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37576" y="4709160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</a:t>
            </a:r>
            <a:endParaRPr lang="en-US" sz="570" dirty="0"/>
          </a:p>
        </p:txBody>
      </p:sp>
      <p:sp>
        <p:nvSpPr>
          <p:cNvPr id="57" name="Shape 55"/>
          <p:cNvSpPr/>
          <p:nvPr/>
        </p:nvSpPr>
        <p:spPr>
          <a:xfrm>
            <a:off x="6812280" y="3749040"/>
            <a:ext cx="950976" cy="438912"/>
          </a:xfrm>
          <a:prstGeom prst="roundRect">
            <a:avLst/>
          </a:prstGeom>
          <a:solidFill>
            <a:srgbClr val="D7B86A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48856" y="385876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48856" y="4032504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Moral</a:t>
            </a:r>
            <a:endParaRPr lang="en-US" sz="570" dirty="0"/>
          </a:p>
        </p:txBody>
      </p:sp>
      <p:sp>
        <p:nvSpPr>
          <p:cNvPr id="60" name="Shape 58"/>
          <p:cNvSpPr/>
          <p:nvPr/>
        </p:nvSpPr>
        <p:spPr>
          <a:xfrm>
            <a:off x="9144000" y="3749040"/>
            <a:ext cx="950976" cy="438912"/>
          </a:xfrm>
          <a:prstGeom prst="roundRect">
            <a:avLst/>
          </a:prstGeom>
          <a:solidFill>
            <a:srgbClr val="D7B86A">
              <a:alpha val="92000"/>
            </a:srgbClr>
          </a:solidFill>
          <a:ln w="10160">
            <a:solidFill>
              <a:srgbClr val="F2EAD5">
                <a:alpha val="8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80576" y="385876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180576" y="4032504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0910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</a:t>
            </a:r>
            <a:endParaRPr lang="en-US" sz="57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91AFB3C-D5ED-FAB4-123B-5AF290C83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26079"/>
            <a:ext cx="6253489" cy="435331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F142C26-D8D3-9C68-01C4-B74E78C97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26" y="1436186"/>
            <a:ext cx="5258534" cy="4286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/ 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249424"/>
            <a:ext cx="448056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recorded end-to-end state reached turn 13 at The Final Chamber, producing final beliefs for a </a:t>
            </a:r>
            <a:r>
              <a:rPr lang="en-US" sz="134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high-karma, high-trust ending path</a:t>
            </a:r>
            <a:r>
              <a:rPr lang="en-US" sz="134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5532120" y="987552"/>
            <a:ext cx="5285232" cy="5166360"/>
          </a:xfrm>
          <a:prstGeom prst="roundRect">
            <a:avLst>
              <a:gd name="adj" fmla="val 1062"/>
            </a:avLst>
          </a:prstGeom>
          <a:solidFill>
            <a:srgbClr val="152B3B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4728" y="12984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893808" y="12984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15584" y="1627632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83040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75564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· Courage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19488" y="173736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15584" y="2231136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35915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 · Trust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19488" y="23408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15584" y="2834640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83040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96265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 · Karma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19488" y="29443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15584" y="3438144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35661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V4 · Wisdom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19488" y="3547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15584" y="4041648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83040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416966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V5 · Chaos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19488" y="41513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0.48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15584" y="4645152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47731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V6 · Health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19488" y="47548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15584" y="5248656"/>
            <a:ext cx="4645152" cy="420624"/>
          </a:xfrm>
          <a:prstGeom prst="roundRect">
            <a:avLst>
              <a:gd name="adj" fmla="val 13043"/>
            </a:avLst>
          </a:prstGeom>
          <a:solidFill>
            <a:srgbClr val="183040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53766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V7 · Wealth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19488" y="535838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7D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7BB58F7-8887-E4B8-ADEF-356147B5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920240"/>
            <a:ext cx="4518123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/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0424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GAME LOOP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1645918"/>
            <a:ext cx="4562471" cy="111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Cycle of Choice and Consequence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54812" y="2852926"/>
            <a:ext cx="443484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turn converts player agency into state deltas, belief propagation, narrative output, and visible interface feedback across the three-panel game layout.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5440680" y="987552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272" y="11338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48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selects a choice card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275320" y="987552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1338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33688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GameState applies deltas and identifies the source factor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5440680" y="2103120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5272" y="22494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99048" y="2258568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FactorGraph updates priors, factor weights, and propagation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8275320" y="2103120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22494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33688" y="2258568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GraphRenderer animates the updated graph state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5440680" y="3218688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33649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99048" y="3374136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NarrativeEngine generates the next local scene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8275320" y="3218688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33649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33688" y="3374136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updates story, choices, stats, inventory, factions, and turn log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5440680" y="4334256"/>
            <a:ext cx="2487168" cy="786384"/>
          </a:xfrm>
          <a:prstGeom prst="roundRect">
            <a:avLst>
              <a:gd name="adj" fmla="val 6977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05272" y="44805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99048" y="4489704"/>
            <a:ext cx="1600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12 turns, the Ending Screen is triggered</a:t>
            </a:r>
            <a:endParaRPr lang="en-US" sz="91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4B232A3-C5BA-7C0A-F9A5-34052DAB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575" y="935626"/>
            <a:ext cx="6264025" cy="4957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/ 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71800" y="1243584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Bringing the World to Life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60120" y="2560320"/>
            <a:ext cx="4572000" cy="987552"/>
          </a:xfrm>
          <a:prstGeom prst="roundRect">
            <a:avLst>
              <a:gd name="adj" fmla="val 5556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7249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16152" y="29443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split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6152" y="32369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Main.html, game.css, and main.js keep the app static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153912" y="2560320"/>
            <a:ext cx="4572000" cy="987552"/>
          </a:xfrm>
          <a:prstGeom prst="roundRect">
            <a:avLst>
              <a:gd name="adj" fmla="val 5556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7249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409944" y="29443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canvas graph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9944" y="32369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GraphRenderer draws variables, factors, edges, and labels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960120" y="3886200"/>
            <a:ext cx="4572000" cy="987552"/>
          </a:xfrm>
          <a:prstGeom prst="roundRect">
            <a:avLst>
              <a:gd name="adj" fmla="val 5556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40507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16152" y="4270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narrative engine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6152" y="45628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classroom demo without API keys or backend calls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153912" y="3886200"/>
            <a:ext cx="4572000" cy="987552"/>
          </a:xfrm>
          <a:prstGeom prst="roundRect">
            <a:avLst>
              <a:gd name="adj" fmla="val 5556"/>
            </a:avLst>
          </a:prstGeom>
          <a:solidFill>
            <a:srgbClr val="1A3444">
              <a:alpha val="96000"/>
            </a:srgbClr>
          </a:solidFill>
          <a:ln w="13970">
            <a:solidFill>
              <a:srgbClr val="36576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0507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409944" y="4270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Polished interaction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9944" y="45628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Particles, sound, typewriter reveal, SVG scenes, and responsive panels</a:t>
            </a:r>
            <a:endParaRPr lang="en-US" sz="91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3ACF394-2FDC-687B-939D-42AB6DAC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72"/>
          <a:stretch>
            <a:fillRect/>
          </a:stretch>
        </p:blipFill>
        <p:spPr>
          <a:xfrm>
            <a:off x="703000" y="1287896"/>
            <a:ext cx="11024080" cy="4858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4"/>
          </a:solidFill>
          <a:ln w="12700">
            <a:solidFill>
              <a:srgbClr val="0D1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548640"/>
            <a:ext cx="4572000" cy="4206240"/>
          </a:xfrm>
          <a:prstGeom prst="arc">
            <a:avLst/>
          </a:prstGeom>
          <a:solidFill>
            <a:srgbClr val="67D8C2">
              <a:alpha val="0"/>
            </a:srgbClr>
          </a:solidFill>
          <a:ln w="15240">
            <a:solidFill>
              <a:srgbClr val="67D8C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3657600" cy="3108960"/>
          </a:xfrm>
          <a:prstGeom prst="arc">
            <a:avLst/>
          </a:prstGeom>
          <a:solidFill>
            <a:srgbClr val="D7B86A">
              <a:alpha val="0"/>
            </a:srgbClr>
          </a:solidFill>
          <a:ln w="13970">
            <a:solidFill>
              <a:srgbClr val="D7B86A">
                <a:alpha val="1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CSE440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1365992" cy="0"/>
          </a:xfrm>
          <a:prstGeom prst="line">
            <a:avLst/>
          </a:prstGeom>
          <a:noFill/>
          <a:ln w="12700">
            <a:solidFill>
              <a:srgbClr val="D7B86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/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4681" y="13573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&amp; ENDINGS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0799" y="1795780"/>
            <a:ext cx="46890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2EA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Beliefs Lead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15265" y="2706624"/>
            <a:ext cx="437083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results in one of </a:t>
            </a:r>
            <a:r>
              <a:rPr lang="en-US" sz="134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primary endings</a:t>
            </a:r>
            <a:r>
              <a:rPr lang="en-US" sz="1340" dirty="0">
                <a:solidFill>
                  <a:srgbClr val="AAB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plus an emergent sixth path. Testing confirmed a complete 12-turn playthrough and ending modal activation.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5989320" y="1325880"/>
            <a:ext cx="4160520" cy="868680"/>
          </a:xfrm>
          <a:prstGeom prst="ellipse">
            <a:avLst/>
          </a:prstGeom>
          <a:solidFill>
            <a:srgbClr val="0D1824"/>
          </a:solidFill>
          <a:ln w="15240">
            <a:solidFill>
              <a:srgbClr val="D7B86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51790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Ending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19088" y="173736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High-karma / High-trust at The Final Chamber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97880" y="257860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Courage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812280" y="2532888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2532888"/>
            <a:ext cx="2374697" cy="155448"/>
          </a:xfrm>
          <a:prstGeom prst="roundRect">
            <a:avLst>
              <a:gd name="adj" fmla="val 23529"/>
            </a:avLst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254203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897880" y="301752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12280" y="2971800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971800"/>
            <a:ext cx="2398928" cy="155448"/>
          </a:xfrm>
          <a:prstGeom prst="roundRect">
            <a:avLst>
              <a:gd name="adj" fmla="val 23529"/>
            </a:avLst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98094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5897880" y="345643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Karma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812280" y="3410712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3410712"/>
            <a:ext cx="2350465" cy="155448"/>
          </a:xfrm>
          <a:prstGeom prst="roundRect">
            <a:avLst>
              <a:gd name="adj" fmla="val 23529"/>
            </a:avLst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34198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897880" y="389534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Wisdom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812280" y="3849624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3849624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38587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897880" y="43342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Chaos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812280" y="4288536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4288536"/>
            <a:ext cx="1163117" cy="155448"/>
          </a:xfrm>
          <a:prstGeom prst="roundRect">
            <a:avLst>
              <a:gd name="adj" fmla="val 23529"/>
            </a:avLst>
          </a:prstGeom>
          <a:solidFill>
            <a:srgbClr val="D97858"/>
          </a:solidFill>
          <a:ln w="12700">
            <a:solidFill>
              <a:srgbClr val="D97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64040" y="42976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0.48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897880" y="47731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812280" y="4727448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4727448"/>
            <a:ext cx="1841602" cy="155448"/>
          </a:xfrm>
          <a:prstGeom prst="roundRect">
            <a:avLst>
              <a:gd name="adj" fmla="val 23529"/>
            </a:avLst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64040" y="4736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897880" y="521208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2E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Wealth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6812280" y="5166360"/>
            <a:ext cx="2423160" cy="155448"/>
          </a:xfrm>
          <a:prstGeom prst="roundRect">
            <a:avLst>
              <a:gd name="adj" fmla="val 23529"/>
            </a:avLst>
          </a:prstGeom>
          <a:solidFill>
            <a:srgbClr val="203848"/>
          </a:solidFill>
          <a:ln w="12700">
            <a:solidFill>
              <a:srgbClr val="2038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12280" y="5166360"/>
            <a:ext cx="1890065" cy="155448"/>
          </a:xfrm>
          <a:prstGeom prst="roundRect">
            <a:avLst>
              <a:gd name="adj" fmla="val 23529"/>
            </a:avLst>
          </a:prstGeom>
          <a:solidFill>
            <a:srgbClr val="67D8C2"/>
          </a:solidFill>
          <a:ln w="12700">
            <a:solidFill>
              <a:srgbClr val="67D8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517550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D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</a:t>
            </a:r>
            <a:endParaRPr lang="en-US" sz="82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BDAA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1622AB9-9D42-5240-84F1-23C9877D9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726" y="1257301"/>
            <a:ext cx="6252869" cy="4306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593</Words>
  <Application>Microsoft Office PowerPoint</Application>
  <PresentationFormat>Widescreen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 South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Quest</dc:title>
  <dc:subject>Adventure Quest — Factor Graph-Driven Interactive Narrative RPG</dc:subject>
  <dc:creator>Lovable</dc:creator>
  <cp:lastModifiedBy>User</cp:lastModifiedBy>
  <cp:revision>2</cp:revision>
  <dcterms:created xsi:type="dcterms:W3CDTF">2026-04-28T12:06:34Z</dcterms:created>
  <dcterms:modified xsi:type="dcterms:W3CDTF">2026-04-28T14:58:00Z</dcterms:modified>
</cp:coreProperties>
</file>